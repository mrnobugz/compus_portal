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59" r:id="rId6"/>
    <p:sldId id="260" r:id="rId7"/>
    <p:sldId id="261" r:id="rId8"/>
  </p:sldIdLst>
  <p:sldSz cx="12192000" cy="6858000"/>
  <p:notesSz cx="6858000" cy="9144000"/>
  <p:defaultText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73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76A22-B4E4-41B2-837F-128447B030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Z"/>
          </a:p>
        </p:txBody>
      </p:sp>
      <p:sp>
        <p:nvSpPr>
          <p:cNvPr id="3" name="Subtitle 2">
            <a:extLst>
              <a:ext uri="{FF2B5EF4-FFF2-40B4-BE49-F238E27FC236}">
                <a16:creationId xmlns:a16="http://schemas.microsoft.com/office/drawing/2014/main" id="{8645A1D1-D121-481A-AD3C-8CC3BD37F1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Z"/>
          </a:p>
        </p:txBody>
      </p:sp>
      <p:sp>
        <p:nvSpPr>
          <p:cNvPr id="4" name="Date Placeholder 3">
            <a:extLst>
              <a:ext uri="{FF2B5EF4-FFF2-40B4-BE49-F238E27FC236}">
                <a16:creationId xmlns:a16="http://schemas.microsoft.com/office/drawing/2014/main" id="{AC133AFB-51A0-4179-AF2F-3BB070C7C529}"/>
              </a:ext>
            </a:extLst>
          </p:cNvPr>
          <p:cNvSpPr>
            <a:spLocks noGrp="1"/>
          </p:cNvSpPr>
          <p:nvPr>
            <p:ph type="dt" sz="half" idx="10"/>
          </p:nvPr>
        </p:nvSpPr>
        <p:spPr/>
        <p:txBody>
          <a:bodyPr/>
          <a:lstStyle/>
          <a:p>
            <a:fld id="{366CDF98-E4E5-4B69-A8DC-73323C8BEC66}" type="datetimeFigureOut">
              <a:rPr lang="en-TZ" smtClean="0"/>
              <a:t>08/03/2026</a:t>
            </a:fld>
            <a:endParaRPr lang="en-TZ"/>
          </a:p>
        </p:txBody>
      </p:sp>
      <p:sp>
        <p:nvSpPr>
          <p:cNvPr id="5" name="Footer Placeholder 4">
            <a:extLst>
              <a:ext uri="{FF2B5EF4-FFF2-40B4-BE49-F238E27FC236}">
                <a16:creationId xmlns:a16="http://schemas.microsoft.com/office/drawing/2014/main" id="{D52AA859-B6F2-46DF-9917-5EF0722A9177}"/>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B3256920-ABE4-4341-AF62-8B79A14BC533}"/>
              </a:ext>
            </a:extLst>
          </p:cNvPr>
          <p:cNvSpPr>
            <a:spLocks noGrp="1"/>
          </p:cNvSpPr>
          <p:nvPr>
            <p:ph type="sldNum" sz="quarter" idx="12"/>
          </p:nvPr>
        </p:nvSpPr>
        <p:spPr/>
        <p:txBody>
          <a:bodyPr/>
          <a:lstStyle/>
          <a:p>
            <a:fld id="{6808C82B-B601-4D15-A0CD-83E2AC2CF924}" type="slidenum">
              <a:rPr lang="en-TZ" smtClean="0"/>
              <a:t>‹#›</a:t>
            </a:fld>
            <a:endParaRPr lang="en-TZ"/>
          </a:p>
        </p:txBody>
      </p:sp>
    </p:spTree>
    <p:extLst>
      <p:ext uri="{BB962C8B-B14F-4D97-AF65-F5344CB8AC3E}">
        <p14:creationId xmlns:p14="http://schemas.microsoft.com/office/powerpoint/2010/main" val="4129765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CB619-21F4-4A7F-8496-30DE428ED926}"/>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23606BBF-B7FC-4116-88F6-7E491E0C49A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D6FF86E0-C2BF-4F47-B8B3-737306659534}"/>
              </a:ext>
            </a:extLst>
          </p:cNvPr>
          <p:cNvSpPr>
            <a:spLocks noGrp="1"/>
          </p:cNvSpPr>
          <p:nvPr>
            <p:ph type="dt" sz="half" idx="10"/>
          </p:nvPr>
        </p:nvSpPr>
        <p:spPr/>
        <p:txBody>
          <a:bodyPr/>
          <a:lstStyle/>
          <a:p>
            <a:fld id="{366CDF98-E4E5-4B69-A8DC-73323C8BEC66}" type="datetimeFigureOut">
              <a:rPr lang="en-TZ" smtClean="0"/>
              <a:t>08/03/2026</a:t>
            </a:fld>
            <a:endParaRPr lang="en-TZ"/>
          </a:p>
        </p:txBody>
      </p:sp>
      <p:sp>
        <p:nvSpPr>
          <p:cNvPr id="5" name="Footer Placeholder 4">
            <a:extLst>
              <a:ext uri="{FF2B5EF4-FFF2-40B4-BE49-F238E27FC236}">
                <a16:creationId xmlns:a16="http://schemas.microsoft.com/office/drawing/2014/main" id="{9C823871-19D4-4B2D-82BF-DA72629A8BA8}"/>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24D4EC67-3B89-4ED8-B2D1-F36B04C68C3C}"/>
              </a:ext>
            </a:extLst>
          </p:cNvPr>
          <p:cNvSpPr>
            <a:spLocks noGrp="1"/>
          </p:cNvSpPr>
          <p:nvPr>
            <p:ph type="sldNum" sz="quarter" idx="12"/>
          </p:nvPr>
        </p:nvSpPr>
        <p:spPr/>
        <p:txBody>
          <a:bodyPr/>
          <a:lstStyle/>
          <a:p>
            <a:fld id="{6808C82B-B601-4D15-A0CD-83E2AC2CF924}" type="slidenum">
              <a:rPr lang="en-TZ" smtClean="0"/>
              <a:t>‹#›</a:t>
            </a:fld>
            <a:endParaRPr lang="en-TZ"/>
          </a:p>
        </p:txBody>
      </p:sp>
    </p:spTree>
    <p:extLst>
      <p:ext uri="{BB962C8B-B14F-4D97-AF65-F5344CB8AC3E}">
        <p14:creationId xmlns:p14="http://schemas.microsoft.com/office/powerpoint/2010/main" val="634711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9B76A-A77F-4CDA-A249-3E9CD5BA82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Z"/>
          </a:p>
        </p:txBody>
      </p:sp>
      <p:sp>
        <p:nvSpPr>
          <p:cNvPr id="3" name="Text Placeholder 2">
            <a:extLst>
              <a:ext uri="{FF2B5EF4-FFF2-40B4-BE49-F238E27FC236}">
                <a16:creationId xmlns:a16="http://schemas.microsoft.com/office/drawing/2014/main" id="{6ACEAA59-564E-43C9-929D-101187369A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96F25D4-6CC7-4E77-8987-149C5EA2218D}"/>
              </a:ext>
            </a:extLst>
          </p:cNvPr>
          <p:cNvSpPr>
            <a:spLocks noGrp="1"/>
          </p:cNvSpPr>
          <p:nvPr>
            <p:ph type="dt" sz="half" idx="10"/>
          </p:nvPr>
        </p:nvSpPr>
        <p:spPr/>
        <p:txBody>
          <a:bodyPr/>
          <a:lstStyle/>
          <a:p>
            <a:fld id="{366CDF98-E4E5-4B69-A8DC-73323C8BEC66}" type="datetimeFigureOut">
              <a:rPr lang="en-TZ" smtClean="0"/>
              <a:t>08/03/2026</a:t>
            </a:fld>
            <a:endParaRPr lang="en-TZ"/>
          </a:p>
        </p:txBody>
      </p:sp>
      <p:sp>
        <p:nvSpPr>
          <p:cNvPr id="5" name="Footer Placeholder 4">
            <a:extLst>
              <a:ext uri="{FF2B5EF4-FFF2-40B4-BE49-F238E27FC236}">
                <a16:creationId xmlns:a16="http://schemas.microsoft.com/office/drawing/2014/main" id="{B76A327C-E9D2-4BF1-9261-46997A73D18B}"/>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48FCD863-86AF-4453-AFEA-19BA99E66292}"/>
              </a:ext>
            </a:extLst>
          </p:cNvPr>
          <p:cNvSpPr>
            <a:spLocks noGrp="1"/>
          </p:cNvSpPr>
          <p:nvPr>
            <p:ph type="sldNum" sz="quarter" idx="12"/>
          </p:nvPr>
        </p:nvSpPr>
        <p:spPr/>
        <p:txBody>
          <a:bodyPr/>
          <a:lstStyle/>
          <a:p>
            <a:fld id="{6808C82B-B601-4D15-A0CD-83E2AC2CF924}" type="slidenum">
              <a:rPr lang="en-TZ" smtClean="0"/>
              <a:t>‹#›</a:t>
            </a:fld>
            <a:endParaRPr lang="en-TZ"/>
          </a:p>
        </p:txBody>
      </p:sp>
    </p:spTree>
    <p:extLst>
      <p:ext uri="{BB962C8B-B14F-4D97-AF65-F5344CB8AC3E}">
        <p14:creationId xmlns:p14="http://schemas.microsoft.com/office/powerpoint/2010/main" val="2294760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B0308-EE3A-4D80-8E1B-DE97B1A6714F}"/>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62EAFE0B-7E9E-44AB-9CF8-4D1A59E302D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Content Placeholder 3">
            <a:extLst>
              <a:ext uri="{FF2B5EF4-FFF2-40B4-BE49-F238E27FC236}">
                <a16:creationId xmlns:a16="http://schemas.microsoft.com/office/drawing/2014/main" id="{7DBCB4B8-EA9C-48FD-8A43-95FA0ADD884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Date Placeholder 4">
            <a:extLst>
              <a:ext uri="{FF2B5EF4-FFF2-40B4-BE49-F238E27FC236}">
                <a16:creationId xmlns:a16="http://schemas.microsoft.com/office/drawing/2014/main" id="{F9E1B416-52E6-445C-978E-17F1EAD5EE89}"/>
              </a:ext>
            </a:extLst>
          </p:cNvPr>
          <p:cNvSpPr>
            <a:spLocks noGrp="1"/>
          </p:cNvSpPr>
          <p:nvPr>
            <p:ph type="dt" sz="half" idx="10"/>
          </p:nvPr>
        </p:nvSpPr>
        <p:spPr/>
        <p:txBody>
          <a:bodyPr/>
          <a:lstStyle/>
          <a:p>
            <a:fld id="{366CDF98-E4E5-4B69-A8DC-73323C8BEC66}" type="datetimeFigureOut">
              <a:rPr lang="en-TZ" smtClean="0"/>
              <a:t>08/03/2026</a:t>
            </a:fld>
            <a:endParaRPr lang="en-TZ"/>
          </a:p>
        </p:txBody>
      </p:sp>
      <p:sp>
        <p:nvSpPr>
          <p:cNvPr id="6" name="Footer Placeholder 5">
            <a:extLst>
              <a:ext uri="{FF2B5EF4-FFF2-40B4-BE49-F238E27FC236}">
                <a16:creationId xmlns:a16="http://schemas.microsoft.com/office/drawing/2014/main" id="{D56B9E12-C4C6-4EF2-9BDC-414463747121}"/>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AC442248-B369-492E-AF45-AE5DA0D9E23E}"/>
              </a:ext>
            </a:extLst>
          </p:cNvPr>
          <p:cNvSpPr>
            <a:spLocks noGrp="1"/>
          </p:cNvSpPr>
          <p:nvPr>
            <p:ph type="sldNum" sz="quarter" idx="12"/>
          </p:nvPr>
        </p:nvSpPr>
        <p:spPr/>
        <p:txBody>
          <a:bodyPr/>
          <a:lstStyle/>
          <a:p>
            <a:fld id="{6808C82B-B601-4D15-A0CD-83E2AC2CF924}" type="slidenum">
              <a:rPr lang="en-TZ" smtClean="0"/>
              <a:t>‹#›</a:t>
            </a:fld>
            <a:endParaRPr lang="en-TZ"/>
          </a:p>
        </p:txBody>
      </p:sp>
    </p:spTree>
    <p:extLst>
      <p:ext uri="{BB962C8B-B14F-4D97-AF65-F5344CB8AC3E}">
        <p14:creationId xmlns:p14="http://schemas.microsoft.com/office/powerpoint/2010/main" val="3056023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B250A-87D9-4060-B2CF-73CD7FDB9886}"/>
              </a:ext>
            </a:extLst>
          </p:cNvPr>
          <p:cNvSpPr>
            <a:spLocks noGrp="1"/>
          </p:cNvSpPr>
          <p:nvPr>
            <p:ph type="title"/>
          </p:nvPr>
        </p:nvSpPr>
        <p:spPr>
          <a:xfrm>
            <a:off x="839788" y="365125"/>
            <a:ext cx="10515600" cy="1325563"/>
          </a:xfrm>
        </p:spPr>
        <p:txBody>
          <a:bodyPr/>
          <a:lstStyle/>
          <a:p>
            <a:r>
              <a:rPr lang="en-US"/>
              <a:t>Click to edit Master title style</a:t>
            </a:r>
            <a:endParaRPr lang="en-TZ"/>
          </a:p>
        </p:txBody>
      </p:sp>
      <p:sp>
        <p:nvSpPr>
          <p:cNvPr id="3" name="Text Placeholder 2">
            <a:extLst>
              <a:ext uri="{FF2B5EF4-FFF2-40B4-BE49-F238E27FC236}">
                <a16:creationId xmlns:a16="http://schemas.microsoft.com/office/drawing/2014/main" id="{54454665-EBC2-4126-BA84-67D4E1838E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3588EA3-B786-4547-8520-EBB75CD9CC4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Text Placeholder 4">
            <a:extLst>
              <a:ext uri="{FF2B5EF4-FFF2-40B4-BE49-F238E27FC236}">
                <a16:creationId xmlns:a16="http://schemas.microsoft.com/office/drawing/2014/main" id="{66BD2573-9A4B-451A-9263-9CC612B0CE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F16867D-3611-4725-AE4D-6A7C95075BD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7" name="Date Placeholder 6">
            <a:extLst>
              <a:ext uri="{FF2B5EF4-FFF2-40B4-BE49-F238E27FC236}">
                <a16:creationId xmlns:a16="http://schemas.microsoft.com/office/drawing/2014/main" id="{B94EDC69-A35F-462E-8B22-CEFE56156994}"/>
              </a:ext>
            </a:extLst>
          </p:cNvPr>
          <p:cNvSpPr>
            <a:spLocks noGrp="1"/>
          </p:cNvSpPr>
          <p:nvPr>
            <p:ph type="dt" sz="half" idx="10"/>
          </p:nvPr>
        </p:nvSpPr>
        <p:spPr/>
        <p:txBody>
          <a:bodyPr/>
          <a:lstStyle/>
          <a:p>
            <a:fld id="{366CDF98-E4E5-4B69-A8DC-73323C8BEC66}" type="datetimeFigureOut">
              <a:rPr lang="en-TZ" smtClean="0"/>
              <a:t>08/03/2026</a:t>
            </a:fld>
            <a:endParaRPr lang="en-TZ"/>
          </a:p>
        </p:txBody>
      </p:sp>
      <p:sp>
        <p:nvSpPr>
          <p:cNvPr id="8" name="Footer Placeholder 7">
            <a:extLst>
              <a:ext uri="{FF2B5EF4-FFF2-40B4-BE49-F238E27FC236}">
                <a16:creationId xmlns:a16="http://schemas.microsoft.com/office/drawing/2014/main" id="{EA37CF61-9021-4087-B730-F2C5C3A04176}"/>
              </a:ext>
            </a:extLst>
          </p:cNvPr>
          <p:cNvSpPr>
            <a:spLocks noGrp="1"/>
          </p:cNvSpPr>
          <p:nvPr>
            <p:ph type="ftr" sz="quarter" idx="11"/>
          </p:nvPr>
        </p:nvSpPr>
        <p:spPr/>
        <p:txBody>
          <a:bodyPr/>
          <a:lstStyle/>
          <a:p>
            <a:endParaRPr lang="en-TZ"/>
          </a:p>
        </p:txBody>
      </p:sp>
      <p:sp>
        <p:nvSpPr>
          <p:cNvPr id="9" name="Slide Number Placeholder 8">
            <a:extLst>
              <a:ext uri="{FF2B5EF4-FFF2-40B4-BE49-F238E27FC236}">
                <a16:creationId xmlns:a16="http://schemas.microsoft.com/office/drawing/2014/main" id="{2467D4D9-DC68-4A8A-81BE-E1BE6078A85E}"/>
              </a:ext>
            </a:extLst>
          </p:cNvPr>
          <p:cNvSpPr>
            <a:spLocks noGrp="1"/>
          </p:cNvSpPr>
          <p:nvPr>
            <p:ph type="sldNum" sz="quarter" idx="12"/>
          </p:nvPr>
        </p:nvSpPr>
        <p:spPr/>
        <p:txBody>
          <a:bodyPr/>
          <a:lstStyle/>
          <a:p>
            <a:fld id="{6808C82B-B601-4D15-A0CD-83E2AC2CF924}" type="slidenum">
              <a:rPr lang="en-TZ" smtClean="0"/>
              <a:t>‹#›</a:t>
            </a:fld>
            <a:endParaRPr lang="en-TZ"/>
          </a:p>
        </p:txBody>
      </p:sp>
    </p:spTree>
    <p:extLst>
      <p:ext uri="{BB962C8B-B14F-4D97-AF65-F5344CB8AC3E}">
        <p14:creationId xmlns:p14="http://schemas.microsoft.com/office/powerpoint/2010/main" val="3661564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AEF84-921C-49CD-8E7B-D1402664C4B5}"/>
              </a:ext>
            </a:extLst>
          </p:cNvPr>
          <p:cNvSpPr>
            <a:spLocks noGrp="1"/>
          </p:cNvSpPr>
          <p:nvPr>
            <p:ph type="title"/>
          </p:nvPr>
        </p:nvSpPr>
        <p:spPr/>
        <p:txBody>
          <a:bodyPr/>
          <a:lstStyle/>
          <a:p>
            <a:r>
              <a:rPr lang="en-US"/>
              <a:t>Click to edit Master title style</a:t>
            </a:r>
            <a:endParaRPr lang="en-TZ"/>
          </a:p>
        </p:txBody>
      </p:sp>
      <p:sp>
        <p:nvSpPr>
          <p:cNvPr id="3" name="Date Placeholder 2">
            <a:extLst>
              <a:ext uri="{FF2B5EF4-FFF2-40B4-BE49-F238E27FC236}">
                <a16:creationId xmlns:a16="http://schemas.microsoft.com/office/drawing/2014/main" id="{33CC5C28-6429-4A72-B9AB-FCB752D2938C}"/>
              </a:ext>
            </a:extLst>
          </p:cNvPr>
          <p:cNvSpPr>
            <a:spLocks noGrp="1"/>
          </p:cNvSpPr>
          <p:nvPr>
            <p:ph type="dt" sz="half" idx="10"/>
          </p:nvPr>
        </p:nvSpPr>
        <p:spPr/>
        <p:txBody>
          <a:bodyPr/>
          <a:lstStyle/>
          <a:p>
            <a:fld id="{366CDF98-E4E5-4B69-A8DC-73323C8BEC66}" type="datetimeFigureOut">
              <a:rPr lang="en-TZ" smtClean="0"/>
              <a:t>08/03/2026</a:t>
            </a:fld>
            <a:endParaRPr lang="en-TZ"/>
          </a:p>
        </p:txBody>
      </p:sp>
      <p:sp>
        <p:nvSpPr>
          <p:cNvPr id="4" name="Footer Placeholder 3">
            <a:extLst>
              <a:ext uri="{FF2B5EF4-FFF2-40B4-BE49-F238E27FC236}">
                <a16:creationId xmlns:a16="http://schemas.microsoft.com/office/drawing/2014/main" id="{C45ECEC0-B069-4991-98DE-E915E8D61711}"/>
              </a:ext>
            </a:extLst>
          </p:cNvPr>
          <p:cNvSpPr>
            <a:spLocks noGrp="1"/>
          </p:cNvSpPr>
          <p:nvPr>
            <p:ph type="ftr" sz="quarter" idx="11"/>
          </p:nvPr>
        </p:nvSpPr>
        <p:spPr/>
        <p:txBody>
          <a:bodyPr/>
          <a:lstStyle/>
          <a:p>
            <a:endParaRPr lang="en-TZ"/>
          </a:p>
        </p:txBody>
      </p:sp>
      <p:sp>
        <p:nvSpPr>
          <p:cNvPr id="5" name="Slide Number Placeholder 4">
            <a:extLst>
              <a:ext uri="{FF2B5EF4-FFF2-40B4-BE49-F238E27FC236}">
                <a16:creationId xmlns:a16="http://schemas.microsoft.com/office/drawing/2014/main" id="{A6843A80-A084-4057-BAB7-AA2B1347089D}"/>
              </a:ext>
            </a:extLst>
          </p:cNvPr>
          <p:cNvSpPr>
            <a:spLocks noGrp="1"/>
          </p:cNvSpPr>
          <p:nvPr>
            <p:ph type="sldNum" sz="quarter" idx="12"/>
          </p:nvPr>
        </p:nvSpPr>
        <p:spPr/>
        <p:txBody>
          <a:bodyPr/>
          <a:lstStyle/>
          <a:p>
            <a:fld id="{6808C82B-B601-4D15-A0CD-83E2AC2CF924}" type="slidenum">
              <a:rPr lang="en-TZ" smtClean="0"/>
              <a:t>‹#›</a:t>
            </a:fld>
            <a:endParaRPr lang="en-TZ"/>
          </a:p>
        </p:txBody>
      </p:sp>
    </p:spTree>
    <p:extLst>
      <p:ext uri="{BB962C8B-B14F-4D97-AF65-F5344CB8AC3E}">
        <p14:creationId xmlns:p14="http://schemas.microsoft.com/office/powerpoint/2010/main" val="512567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25EDD2-B6AF-4D92-BD93-C1E09A838BAA}"/>
              </a:ext>
            </a:extLst>
          </p:cNvPr>
          <p:cNvSpPr>
            <a:spLocks noGrp="1"/>
          </p:cNvSpPr>
          <p:nvPr>
            <p:ph type="dt" sz="half" idx="10"/>
          </p:nvPr>
        </p:nvSpPr>
        <p:spPr/>
        <p:txBody>
          <a:bodyPr/>
          <a:lstStyle/>
          <a:p>
            <a:fld id="{366CDF98-E4E5-4B69-A8DC-73323C8BEC66}" type="datetimeFigureOut">
              <a:rPr lang="en-TZ" smtClean="0"/>
              <a:t>08/03/2026</a:t>
            </a:fld>
            <a:endParaRPr lang="en-TZ"/>
          </a:p>
        </p:txBody>
      </p:sp>
      <p:sp>
        <p:nvSpPr>
          <p:cNvPr id="3" name="Footer Placeholder 2">
            <a:extLst>
              <a:ext uri="{FF2B5EF4-FFF2-40B4-BE49-F238E27FC236}">
                <a16:creationId xmlns:a16="http://schemas.microsoft.com/office/drawing/2014/main" id="{8DC3DC72-DD02-4BDA-B4A8-4A10669C5C09}"/>
              </a:ext>
            </a:extLst>
          </p:cNvPr>
          <p:cNvSpPr>
            <a:spLocks noGrp="1"/>
          </p:cNvSpPr>
          <p:nvPr>
            <p:ph type="ftr" sz="quarter" idx="11"/>
          </p:nvPr>
        </p:nvSpPr>
        <p:spPr/>
        <p:txBody>
          <a:bodyPr/>
          <a:lstStyle/>
          <a:p>
            <a:endParaRPr lang="en-TZ"/>
          </a:p>
        </p:txBody>
      </p:sp>
      <p:sp>
        <p:nvSpPr>
          <p:cNvPr id="4" name="Slide Number Placeholder 3">
            <a:extLst>
              <a:ext uri="{FF2B5EF4-FFF2-40B4-BE49-F238E27FC236}">
                <a16:creationId xmlns:a16="http://schemas.microsoft.com/office/drawing/2014/main" id="{626F2DFB-DF3C-4A06-935D-038217B4B128}"/>
              </a:ext>
            </a:extLst>
          </p:cNvPr>
          <p:cNvSpPr>
            <a:spLocks noGrp="1"/>
          </p:cNvSpPr>
          <p:nvPr>
            <p:ph type="sldNum" sz="quarter" idx="12"/>
          </p:nvPr>
        </p:nvSpPr>
        <p:spPr/>
        <p:txBody>
          <a:bodyPr/>
          <a:lstStyle/>
          <a:p>
            <a:fld id="{6808C82B-B601-4D15-A0CD-83E2AC2CF924}" type="slidenum">
              <a:rPr lang="en-TZ" smtClean="0"/>
              <a:t>‹#›</a:t>
            </a:fld>
            <a:endParaRPr lang="en-TZ"/>
          </a:p>
        </p:txBody>
      </p:sp>
    </p:spTree>
    <p:extLst>
      <p:ext uri="{BB962C8B-B14F-4D97-AF65-F5344CB8AC3E}">
        <p14:creationId xmlns:p14="http://schemas.microsoft.com/office/powerpoint/2010/main" val="1540362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4904B-EFC5-4D7A-99C4-CB6DE6DF04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Content Placeholder 2">
            <a:extLst>
              <a:ext uri="{FF2B5EF4-FFF2-40B4-BE49-F238E27FC236}">
                <a16:creationId xmlns:a16="http://schemas.microsoft.com/office/drawing/2014/main" id="{C1299937-FEBC-4B26-AF50-44BC2E6250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Text Placeholder 3">
            <a:extLst>
              <a:ext uri="{FF2B5EF4-FFF2-40B4-BE49-F238E27FC236}">
                <a16:creationId xmlns:a16="http://schemas.microsoft.com/office/drawing/2014/main" id="{3ACB5CE6-DB87-40CD-8987-238DE13E48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4BB6652-FFD7-4E0E-A147-88659915869E}"/>
              </a:ext>
            </a:extLst>
          </p:cNvPr>
          <p:cNvSpPr>
            <a:spLocks noGrp="1"/>
          </p:cNvSpPr>
          <p:nvPr>
            <p:ph type="dt" sz="half" idx="10"/>
          </p:nvPr>
        </p:nvSpPr>
        <p:spPr/>
        <p:txBody>
          <a:bodyPr/>
          <a:lstStyle/>
          <a:p>
            <a:fld id="{366CDF98-E4E5-4B69-A8DC-73323C8BEC66}" type="datetimeFigureOut">
              <a:rPr lang="en-TZ" smtClean="0"/>
              <a:t>08/03/2026</a:t>
            </a:fld>
            <a:endParaRPr lang="en-TZ"/>
          </a:p>
        </p:txBody>
      </p:sp>
      <p:sp>
        <p:nvSpPr>
          <p:cNvPr id="6" name="Footer Placeholder 5">
            <a:extLst>
              <a:ext uri="{FF2B5EF4-FFF2-40B4-BE49-F238E27FC236}">
                <a16:creationId xmlns:a16="http://schemas.microsoft.com/office/drawing/2014/main" id="{572F7446-2135-4BB1-BF94-CD8FB9652A5A}"/>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F507352B-A416-4455-A689-F7E0B431A10B}"/>
              </a:ext>
            </a:extLst>
          </p:cNvPr>
          <p:cNvSpPr>
            <a:spLocks noGrp="1"/>
          </p:cNvSpPr>
          <p:nvPr>
            <p:ph type="sldNum" sz="quarter" idx="12"/>
          </p:nvPr>
        </p:nvSpPr>
        <p:spPr/>
        <p:txBody>
          <a:bodyPr/>
          <a:lstStyle/>
          <a:p>
            <a:fld id="{6808C82B-B601-4D15-A0CD-83E2AC2CF924}" type="slidenum">
              <a:rPr lang="en-TZ" smtClean="0"/>
              <a:t>‹#›</a:t>
            </a:fld>
            <a:endParaRPr lang="en-TZ"/>
          </a:p>
        </p:txBody>
      </p:sp>
    </p:spTree>
    <p:extLst>
      <p:ext uri="{BB962C8B-B14F-4D97-AF65-F5344CB8AC3E}">
        <p14:creationId xmlns:p14="http://schemas.microsoft.com/office/powerpoint/2010/main" val="2441485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1EB6F-7398-4888-AB7D-D037B8A5F2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Picture Placeholder 2">
            <a:extLst>
              <a:ext uri="{FF2B5EF4-FFF2-40B4-BE49-F238E27FC236}">
                <a16:creationId xmlns:a16="http://schemas.microsoft.com/office/drawing/2014/main" id="{4ABE4D50-46F8-4988-99A0-80E28B5DC9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Z"/>
          </a:p>
        </p:txBody>
      </p:sp>
      <p:sp>
        <p:nvSpPr>
          <p:cNvPr id="4" name="Text Placeholder 3">
            <a:extLst>
              <a:ext uri="{FF2B5EF4-FFF2-40B4-BE49-F238E27FC236}">
                <a16:creationId xmlns:a16="http://schemas.microsoft.com/office/drawing/2014/main" id="{777E45A2-A0F6-43B6-B112-483C76BE04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3E9DC0B-940B-44DC-93E4-78F45BE5F129}"/>
              </a:ext>
            </a:extLst>
          </p:cNvPr>
          <p:cNvSpPr>
            <a:spLocks noGrp="1"/>
          </p:cNvSpPr>
          <p:nvPr>
            <p:ph type="dt" sz="half" idx="10"/>
          </p:nvPr>
        </p:nvSpPr>
        <p:spPr/>
        <p:txBody>
          <a:bodyPr/>
          <a:lstStyle/>
          <a:p>
            <a:fld id="{366CDF98-E4E5-4B69-A8DC-73323C8BEC66}" type="datetimeFigureOut">
              <a:rPr lang="en-TZ" smtClean="0"/>
              <a:t>08/03/2026</a:t>
            </a:fld>
            <a:endParaRPr lang="en-TZ"/>
          </a:p>
        </p:txBody>
      </p:sp>
      <p:sp>
        <p:nvSpPr>
          <p:cNvPr id="6" name="Footer Placeholder 5">
            <a:extLst>
              <a:ext uri="{FF2B5EF4-FFF2-40B4-BE49-F238E27FC236}">
                <a16:creationId xmlns:a16="http://schemas.microsoft.com/office/drawing/2014/main" id="{8988FAC1-D41C-4E5A-9FE9-77CE1B3D8C81}"/>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0F3B1141-FA9D-4FF0-B723-1E2FCDA318C7}"/>
              </a:ext>
            </a:extLst>
          </p:cNvPr>
          <p:cNvSpPr>
            <a:spLocks noGrp="1"/>
          </p:cNvSpPr>
          <p:nvPr>
            <p:ph type="sldNum" sz="quarter" idx="12"/>
          </p:nvPr>
        </p:nvSpPr>
        <p:spPr/>
        <p:txBody>
          <a:bodyPr/>
          <a:lstStyle/>
          <a:p>
            <a:fld id="{6808C82B-B601-4D15-A0CD-83E2AC2CF924}" type="slidenum">
              <a:rPr lang="en-TZ" smtClean="0"/>
              <a:t>‹#›</a:t>
            </a:fld>
            <a:endParaRPr lang="en-TZ"/>
          </a:p>
        </p:txBody>
      </p:sp>
    </p:spTree>
    <p:extLst>
      <p:ext uri="{BB962C8B-B14F-4D97-AF65-F5344CB8AC3E}">
        <p14:creationId xmlns:p14="http://schemas.microsoft.com/office/powerpoint/2010/main" val="2324252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45C23-6173-4E40-8AE1-A4ED49D6862F}"/>
              </a:ext>
            </a:extLst>
          </p:cNvPr>
          <p:cNvSpPr>
            <a:spLocks noGrp="1"/>
          </p:cNvSpPr>
          <p:nvPr>
            <p:ph type="title"/>
          </p:nvPr>
        </p:nvSpPr>
        <p:spPr/>
        <p:txBody>
          <a:bodyPr/>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851285BC-EE62-4800-9330-D366B83A247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087A3CF7-0728-48CF-ABA1-9DE870B12CDD}"/>
              </a:ext>
            </a:extLst>
          </p:cNvPr>
          <p:cNvSpPr>
            <a:spLocks noGrp="1"/>
          </p:cNvSpPr>
          <p:nvPr>
            <p:ph type="dt" sz="half" idx="10"/>
          </p:nvPr>
        </p:nvSpPr>
        <p:spPr/>
        <p:txBody>
          <a:bodyPr/>
          <a:lstStyle/>
          <a:p>
            <a:fld id="{366CDF98-E4E5-4B69-A8DC-73323C8BEC66}" type="datetimeFigureOut">
              <a:rPr lang="en-TZ" smtClean="0"/>
              <a:t>08/03/2026</a:t>
            </a:fld>
            <a:endParaRPr lang="en-TZ"/>
          </a:p>
        </p:txBody>
      </p:sp>
      <p:sp>
        <p:nvSpPr>
          <p:cNvPr id="5" name="Footer Placeholder 4">
            <a:extLst>
              <a:ext uri="{FF2B5EF4-FFF2-40B4-BE49-F238E27FC236}">
                <a16:creationId xmlns:a16="http://schemas.microsoft.com/office/drawing/2014/main" id="{28011927-8CB2-4EFB-AD29-DE5C8834CDB0}"/>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ECF4DEEE-829F-44D9-B724-17CCA839CADE}"/>
              </a:ext>
            </a:extLst>
          </p:cNvPr>
          <p:cNvSpPr>
            <a:spLocks noGrp="1"/>
          </p:cNvSpPr>
          <p:nvPr>
            <p:ph type="sldNum" sz="quarter" idx="12"/>
          </p:nvPr>
        </p:nvSpPr>
        <p:spPr/>
        <p:txBody>
          <a:bodyPr/>
          <a:lstStyle/>
          <a:p>
            <a:fld id="{6808C82B-B601-4D15-A0CD-83E2AC2CF924}" type="slidenum">
              <a:rPr lang="en-TZ" smtClean="0"/>
              <a:t>‹#›</a:t>
            </a:fld>
            <a:endParaRPr lang="en-TZ"/>
          </a:p>
        </p:txBody>
      </p:sp>
    </p:spTree>
    <p:extLst>
      <p:ext uri="{BB962C8B-B14F-4D97-AF65-F5344CB8AC3E}">
        <p14:creationId xmlns:p14="http://schemas.microsoft.com/office/powerpoint/2010/main" val="488597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B4F600-40BF-4B15-B9BE-12A9ADD18FB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EBA5D771-B75B-4B8F-8CF3-E3908B013C9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AFBA301C-4680-4301-B036-8C426BF054BA}"/>
              </a:ext>
            </a:extLst>
          </p:cNvPr>
          <p:cNvSpPr>
            <a:spLocks noGrp="1"/>
          </p:cNvSpPr>
          <p:nvPr>
            <p:ph type="dt" sz="half" idx="10"/>
          </p:nvPr>
        </p:nvSpPr>
        <p:spPr/>
        <p:txBody>
          <a:bodyPr/>
          <a:lstStyle/>
          <a:p>
            <a:fld id="{366CDF98-E4E5-4B69-A8DC-73323C8BEC66}" type="datetimeFigureOut">
              <a:rPr lang="en-TZ" smtClean="0"/>
              <a:t>08/03/2026</a:t>
            </a:fld>
            <a:endParaRPr lang="en-TZ"/>
          </a:p>
        </p:txBody>
      </p:sp>
      <p:sp>
        <p:nvSpPr>
          <p:cNvPr id="5" name="Footer Placeholder 4">
            <a:extLst>
              <a:ext uri="{FF2B5EF4-FFF2-40B4-BE49-F238E27FC236}">
                <a16:creationId xmlns:a16="http://schemas.microsoft.com/office/drawing/2014/main" id="{E586E6CF-921D-40A0-AE63-F7083A7B72BC}"/>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20E89ADA-4674-49E8-9718-E53BA378A4F1}"/>
              </a:ext>
            </a:extLst>
          </p:cNvPr>
          <p:cNvSpPr>
            <a:spLocks noGrp="1"/>
          </p:cNvSpPr>
          <p:nvPr>
            <p:ph type="sldNum" sz="quarter" idx="12"/>
          </p:nvPr>
        </p:nvSpPr>
        <p:spPr/>
        <p:txBody>
          <a:bodyPr/>
          <a:lstStyle/>
          <a:p>
            <a:fld id="{6808C82B-B601-4D15-A0CD-83E2AC2CF924}" type="slidenum">
              <a:rPr lang="en-TZ" smtClean="0"/>
              <a:t>‹#›</a:t>
            </a:fld>
            <a:endParaRPr lang="en-TZ"/>
          </a:p>
        </p:txBody>
      </p:sp>
    </p:spTree>
    <p:extLst>
      <p:ext uri="{BB962C8B-B14F-4D97-AF65-F5344CB8AC3E}">
        <p14:creationId xmlns:p14="http://schemas.microsoft.com/office/powerpoint/2010/main" val="3345906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FA0038-CF85-4194-863C-4CB2029A33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Z"/>
          </a:p>
        </p:txBody>
      </p:sp>
      <p:sp>
        <p:nvSpPr>
          <p:cNvPr id="3" name="Text Placeholder 2">
            <a:extLst>
              <a:ext uri="{FF2B5EF4-FFF2-40B4-BE49-F238E27FC236}">
                <a16:creationId xmlns:a16="http://schemas.microsoft.com/office/drawing/2014/main" id="{BC1BB82B-EA2F-4951-818F-6C776DA669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5DAC1AEF-1BE4-446A-B942-EFBE4BD3A7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6CDF98-E4E5-4B69-A8DC-73323C8BEC66}" type="datetimeFigureOut">
              <a:rPr lang="en-TZ" smtClean="0"/>
              <a:t>08/03/2026</a:t>
            </a:fld>
            <a:endParaRPr lang="en-TZ"/>
          </a:p>
        </p:txBody>
      </p:sp>
      <p:sp>
        <p:nvSpPr>
          <p:cNvPr id="5" name="Footer Placeholder 4">
            <a:extLst>
              <a:ext uri="{FF2B5EF4-FFF2-40B4-BE49-F238E27FC236}">
                <a16:creationId xmlns:a16="http://schemas.microsoft.com/office/drawing/2014/main" id="{26B00089-66C7-4B60-8D8F-E0D44D85D8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TZ"/>
          </a:p>
        </p:txBody>
      </p:sp>
      <p:sp>
        <p:nvSpPr>
          <p:cNvPr id="6" name="Slide Number Placeholder 5">
            <a:extLst>
              <a:ext uri="{FF2B5EF4-FFF2-40B4-BE49-F238E27FC236}">
                <a16:creationId xmlns:a16="http://schemas.microsoft.com/office/drawing/2014/main" id="{8FD1368C-0360-482F-9B53-EB8D2AD9B3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08C82B-B601-4D15-A0CD-83E2AC2CF924}" type="slidenum">
              <a:rPr lang="en-TZ" smtClean="0"/>
              <a:t>‹#›</a:t>
            </a:fld>
            <a:endParaRPr lang="en-TZ"/>
          </a:p>
        </p:txBody>
      </p:sp>
    </p:spTree>
    <p:extLst>
      <p:ext uri="{BB962C8B-B14F-4D97-AF65-F5344CB8AC3E}">
        <p14:creationId xmlns:p14="http://schemas.microsoft.com/office/powerpoint/2010/main" val="13845658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google.com/search?client=firefox-b-d&amp;q=IPSec+Security+Associations+%28SAs%29&amp;ved=2ahUKEwj89p_5442TAxVO5QIHHQenEHQQgK4QegQIARAC"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google.com/search?client=firefox-b-d&amp;q=Security+Associations+%28SAs%29&amp;ved=2ahUKEwj89p_5442TAxVO5QIHHQenEHQQgK4QegQIAxAD" TargetMode="External"/><Relationship Id="rId2" Type="http://schemas.openxmlformats.org/officeDocument/2006/relationships/hyperlink" Target="https://www.google.com/search?client=firefox-b-d&amp;q=Internet+Key+Exchange+%28IKE%29&amp;ved=2ahUKEwj89p_5442TAxVO5QIHHQenEHQQgK4QegQIAxAB" TargetMode="External"/><Relationship Id="rId1" Type="http://schemas.openxmlformats.org/officeDocument/2006/relationships/slideLayout" Target="../slideLayouts/slideLayout2.xml"/><Relationship Id="rId4" Type="http://schemas.openxmlformats.org/officeDocument/2006/relationships/hyperlink" Target="https://www.google.com/search?client=firefox-b-d&amp;q=Manual+vs.+Automatic+Key+Management&amp;ved=2ahUKEwj89p_5442TAxVO5QIHHQenEHQQgK4QegQIAxAF"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6751C-1CAE-45EF-B2DA-CCCEF99E0940}"/>
              </a:ext>
            </a:extLst>
          </p:cNvPr>
          <p:cNvSpPr>
            <a:spLocks noGrp="1"/>
          </p:cNvSpPr>
          <p:nvPr>
            <p:ph type="ctrTitle"/>
          </p:nvPr>
        </p:nvSpPr>
        <p:spPr/>
        <p:txBody>
          <a:bodyPr/>
          <a:lstStyle/>
          <a:p>
            <a:r>
              <a:rPr lang="en-TZ" dirty="0">
                <a:latin typeface="Times New Roman" panose="02020603050405020304" pitchFamily="18" charset="0"/>
                <a:ea typeface="Times New Roman" panose="02020603050405020304" pitchFamily="18" charset="0"/>
              </a:rPr>
              <a:t>IPSec key management </a:t>
            </a:r>
            <a:endParaRPr lang="en-TZ" dirty="0"/>
          </a:p>
        </p:txBody>
      </p:sp>
      <p:sp>
        <p:nvSpPr>
          <p:cNvPr id="3" name="Subtitle 2">
            <a:extLst>
              <a:ext uri="{FF2B5EF4-FFF2-40B4-BE49-F238E27FC236}">
                <a16:creationId xmlns:a16="http://schemas.microsoft.com/office/drawing/2014/main" id="{EF12BD25-A359-42A9-81F3-0A746DBFE76D}"/>
              </a:ext>
            </a:extLst>
          </p:cNvPr>
          <p:cNvSpPr>
            <a:spLocks noGrp="1"/>
          </p:cNvSpPr>
          <p:nvPr>
            <p:ph type="subTitle" idx="1"/>
          </p:nvPr>
        </p:nvSpPr>
        <p:spPr>
          <a:xfrm>
            <a:off x="1524000" y="3602037"/>
            <a:ext cx="9144000" cy="3440208"/>
          </a:xfrm>
        </p:spPr>
        <p:txBody>
          <a:bodyPr>
            <a:normAutofit/>
          </a:bodyPr>
          <a:lstStyle/>
          <a:p>
            <a:pPr>
              <a:lnSpc>
                <a:spcPct val="107000"/>
              </a:lnSpc>
              <a:spcAft>
                <a:spcPts val="0"/>
              </a:spcAft>
            </a:pPr>
            <a:r>
              <a:rPr lang="en-TZ" dirty="0">
                <a:latin typeface="Times New Roman" panose="02020603050405020304" pitchFamily="18" charset="0"/>
                <a:ea typeface="Times New Roman" panose="02020603050405020304" pitchFamily="18" charset="0"/>
                <a:cs typeface="Times New Roman" panose="02020603050405020304" pitchFamily="18" charset="0"/>
              </a:rPr>
              <a:t>IPSec key management handles the secure generation, exchange, and renewal of cryptographic keys for </a:t>
            </a:r>
            <a:r>
              <a:rPr lang="en-TZ" u="sng"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IPSec Security Associations (</a:t>
            </a:r>
            <a:r>
              <a:rPr lang="en-TZ" u="sng"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SAs</a:t>
            </a:r>
            <a:r>
              <a:rPr lang="en-TZ" u="sng"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a:t>
            </a:r>
            <a:r>
              <a:rPr lang="en-TZ" dirty="0">
                <a:latin typeface="Times New Roman" panose="02020603050405020304" pitchFamily="18" charset="0"/>
                <a:ea typeface="Times New Roman" panose="02020603050405020304" pitchFamily="18" charset="0"/>
                <a:cs typeface="Times New Roman" panose="02020603050405020304" pitchFamily="18" charset="0"/>
              </a:rPr>
              <a:t>. It primarily uses the automated </a:t>
            </a:r>
            <a:r>
              <a:rPr lang="en-TZ" b="1" dirty="0">
                <a:latin typeface="Times New Roman" panose="02020603050405020304" pitchFamily="18" charset="0"/>
                <a:ea typeface="Times New Roman" panose="02020603050405020304" pitchFamily="18" charset="0"/>
                <a:cs typeface="Times New Roman" panose="02020603050405020304" pitchFamily="18" charset="0"/>
              </a:rPr>
              <a:t>Internet Key Exchange (IKEv1/v2)</a:t>
            </a:r>
            <a:r>
              <a:rPr lang="en-TZ" dirty="0">
                <a:latin typeface="Times New Roman" panose="02020603050405020304" pitchFamily="18" charset="0"/>
                <a:ea typeface="Times New Roman" panose="02020603050405020304" pitchFamily="18" charset="0"/>
                <a:cs typeface="Times New Roman" panose="02020603050405020304" pitchFamily="18" charset="0"/>
              </a:rPr>
              <a:t> protocol to establish, maintain, and refresh keys for encrypting and authenticating data traffic. Key management ensures secure communication between endpoints, with automated options generally preferred over manual configuration to reduce errors and facilitate key rotation. </a:t>
            </a:r>
            <a:endParaRPr lang="en-TZ" sz="2000" dirty="0">
              <a:latin typeface="Calibri" panose="020F0502020204030204" pitchFamily="34" charset="0"/>
              <a:ea typeface="Calibri" panose="020F0502020204030204" pitchFamily="34" charset="0"/>
              <a:cs typeface="Times New Roman" panose="02020603050405020304" pitchFamily="18" charset="0"/>
            </a:endParaRPr>
          </a:p>
          <a:p>
            <a:endParaRPr lang="en-TZ" dirty="0"/>
          </a:p>
        </p:txBody>
      </p:sp>
    </p:spTree>
    <p:extLst>
      <p:ext uri="{BB962C8B-B14F-4D97-AF65-F5344CB8AC3E}">
        <p14:creationId xmlns:p14="http://schemas.microsoft.com/office/powerpoint/2010/main" val="3975053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CDB4E-4B78-4B94-A8BD-209D83A024EC}"/>
              </a:ext>
            </a:extLst>
          </p:cNvPr>
          <p:cNvSpPr>
            <a:spLocks noGrp="1"/>
          </p:cNvSpPr>
          <p:nvPr>
            <p:ph type="title"/>
          </p:nvPr>
        </p:nvSpPr>
        <p:spPr/>
        <p:txBody>
          <a:bodyPr/>
          <a:lstStyle/>
          <a:p>
            <a:r>
              <a:rPr lang="en-US" b="1" dirty="0">
                <a:latin typeface="Times New Roman" panose="02020603050405020304" pitchFamily="18" charset="0"/>
                <a:ea typeface="Times New Roman" panose="02020603050405020304" pitchFamily="18" charset="0"/>
              </a:rPr>
              <a:t>  </a:t>
            </a:r>
            <a:r>
              <a:rPr lang="en-TZ" b="1" dirty="0">
                <a:latin typeface="Times New Roman" panose="02020603050405020304" pitchFamily="18" charset="0"/>
                <a:ea typeface="Times New Roman" panose="02020603050405020304" pitchFamily="18" charset="0"/>
              </a:rPr>
              <a:t>Key Aspects of IPSec Key Management</a:t>
            </a:r>
            <a:endParaRPr lang="en-TZ" dirty="0"/>
          </a:p>
        </p:txBody>
      </p:sp>
      <p:sp>
        <p:nvSpPr>
          <p:cNvPr id="3" name="Content Placeholder 2">
            <a:extLst>
              <a:ext uri="{FF2B5EF4-FFF2-40B4-BE49-F238E27FC236}">
                <a16:creationId xmlns:a16="http://schemas.microsoft.com/office/drawing/2014/main" id="{01DDCEBC-1E8F-4BFE-A8C1-58DD275CA104}"/>
              </a:ext>
            </a:extLst>
          </p:cNvPr>
          <p:cNvSpPr>
            <a:spLocks noGrp="1"/>
          </p:cNvSpPr>
          <p:nvPr>
            <p:ph idx="1"/>
          </p:nvPr>
        </p:nvSpPr>
        <p:spPr>
          <a:xfrm>
            <a:off x="838200" y="1825625"/>
            <a:ext cx="10515600" cy="4889074"/>
          </a:xfrm>
        </p:spPr>
        <p:txBody>
          <a:bodyPr>
            <a:normAutofit fontScale="92500" lnSpcReduction="20000"/>
          </a:bodyPr>
          <a:lstStyle/>
          <a:p>
            <a:pPr marL="342900" lvl="0" indent="-342900">
              <a:lnSpc>
                <a:spcPct val="107000"/>
              </a:lnSpc>
              <a:spcAft>
                <a:spcPts val="0"/>
              </a:spcAft>
              <a:buSzPts val="1000"/>
              <a:buFont typeface="Symbol" panose="05050102010706020507" pitchFamily="18" charset="2"/>
              <a:buChar char=""/>
              <a:tabLst>
                <a:tab pos="457200" algn="l"/>
              </a:tabLst>
            </a:pPr>
            <a:r>
              <a:rPr lang="en-TZ" b="1" u="sng"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Internet Key Exchange (IKE)</a:t>
            </a:r>
            <a:r>
              <a:rPr lang="en-TZ" b="1" dirty="0">
                <a:latin typeface="Times New Roman" panose="02020603050405020304" pitchFamily="18" charset="0"/>
                <a:ea typeface="Times New Roman" panose="02020603050405020304" pitchFamily="18" charset="0"/>
                <a:cs typeface="Times New Roman" panose="02020603050405020304" pitchFamily="18" charset="0"/>
              </a:rPr>
              <a:t>:</a:t>
            </a:r>
            <a:r>
              <a:rPr lang="en-TZ" dirty="0">
                <a:latin typeface="Times New Roman" panose="02020603050405020304" pitchFamily="18" charset="0"/>
                <a:ea typeface="Times New Roman" panose="02020603050405020304" pitchFamily="18" charset="0"/>
                <a:cs typeface="Times New Roman" panose="02020603050405020304" pitchFamily="18" charset="0"/>
              </a:rPr>
              <a:t> The standard protocol used to establish Security Associations (</a:t>
            </a:r>
            <a:r>
              <a:rPr lang="en-TZ" dirty="0" err="1">
                <a:latin typeface="Times New Roman" panose="02020603050405020304" pitchFamily="18" charset="0"/>
                <a:ea typeface="Times New Roman" panose="02020603050405020304" pitchFamily="18" charset="0"/>
                <a:cs typeface="Times New Roman" panose="02020603050405020304" pitchFamily="18" charset="0"/>
              </a:rPr>
              <a:t>SAs</a:t>
            </a:r>
            <a:r>
              <a:rPr lang="en-TZ" dirty="0">
                <a:latin typeface="Times New Roman" panose="02020603050405020304" pitchFamily="18" charset="0"/>
                <a:ea typeface="Times New Roman" panose="02020603050405020304" pitchFamily="18" charset="0"/>
                <a:cs typeface="Times New Roman" panose="02020603050405020304" pitchFamily="18" charset="0"/>
              </a:rPr>
              <a:t>) automatically. IKEv1 and IKEv2 handle authentication and key generation, providing a secure, automated, and scalable solution.</a:t>
            </a:r>
            <a:endParaRPr lang="en-TZ"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TZ" b="1" u="sng"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Security Associations (</a:t>
            </a:r>
            <a:r>
              <a:rPr lang="en-TZ" b="1" u="sng" dirty="0" err="1">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SAs</a:t>
            </a:r>
            <a:r>
              <a:rPr lang="en-TZ" b="1" u="sng"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a:t>
            </a:r>
            <a:r>
              <a:rPr lang="en-TZ" b="1" dirty="0">
                <a:latin typeface="Times New Roman" panose="02020603050405020304" pitchFamily="18" charset="0"/>
                <a:ea typeface="Times New Roman" panose="02020603050405020304" pitchFamily="18" charset="0"/>
                <a:cs typeface="Times New Roman" panose="02020603050405020304" pitchFamily="18" charset="0"/>
              </a:rPr>
              <a:t>:</a:t>
            </a:r>
            <a:r>
              <a:rPr lang="en-TZ" dirty="0">
                <a:latin typeface="Times New Roman" panose="02020603050405020304" pitchFamily="18" charset="0"/>
                <a:ea typeface="Times New Roman" panose="02020603050405020304" pitchFamily="18" charset="0"/>
                <a:cs typeface="Times New Roman" panose="02020603050405020304" pitchFamily="18" charset="0"/>
              </a:rPr>
              <a:t> IKE negotiates and establishes </a:t>
            </a:r>
            <a:r>
              <a:rPr lang="en-TZ" dirty="0" err="1">
                <a:latin typeface="Times New Roman" panose="02020603050405020304" pitchFamily="18" charset="0"/>
                <a:ea typeface="Times New Roman" panose="02020603050405020304" pitchFamily="18" charset="0"/>
                <a:cs typeface="Times New Roman" panose="02020603050405020304" pitchFamily="18" charset="0"/>
              </a:rPr>
              <a:t>SAs</a:t>
            </a:r>
            <a:r>
              <a:rPr lang="en-TZ" dirty="0">
                <a:latin typeface="Times New Roman" panose="02020603050405020304" pitchFamily="18" charset="0"/>
                <a:ea typeface="Times New Roman" panose="02020603050405020304" pitchFamily="18" charset="0"/>
                <a:cs typeface="Times New Roman" panose="02020603050405020304" pitchFamily="18" charset="0"/>
              </a:rPr>
              <a:t>, which define the parameters, such as algorithms and keys, for securing communication.</a:t>
            </a:r>
            <a:endParaRPr lang="en-TZ"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TZ" b="1" u="sng" dirty="0">
                <a:solidFill>
                  <a:srgbClr val="0000FF"/>
                </a:solidFill>
                <a:latin typeface="Times New Roman" panose="02020603050405020304" pitchFamily="18" charset="0"/>
                <a:ea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Manual vs. Automatic Key Management</a:t>
            </a:r>
            <a:r>
              <a:rPr lang="en-TZ" b="1" dirty="0">
                <a:latin typeface="Times New Roman" panose="02020603050405020304" pitchFamily="18" charset="0"/>
                <a:ea typeface="Times New Roman" panose="02020603050405020304" pitchFamily="18" charset="0"/>
                <a:cs typeface="Times New Roman" panose="02020603050405020304" pitchFamily="18" charset="0"/>
              </a:rPr>
              <a:t>:</a:t>
            </a:r>
            <a:endParaRPr lang="en-TZ" sz="24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TZ" b="1" dirty="0">
                <a:latin typeface="Times New Roman" panose="02020603050405020304" pitchFamily="18" charset="0"/>
                <a:ea typeface="Times New Roman" panose="02020603050405020304" pitchFamily="18" charset="0"/>
                <a:cs typeface="Times New Roman" panose="02020603050405020304" pitchFamily="18" charset="0"/>
              </a:rPr>
              <a:t>IKE (Automatic):</a:t>
            </a:r>
            <a:r>
              <a:rPr lang="en-TZ" dirty="0">
                <a:latin typeface="Times New Roman" panose="02020603050405020304" pitchFamily="18" charset="0"/>
                <a:ea typeface="Times New Roman" panose="02020603050405020304" pitchFamily="18" charset="0"/>
                <a:cs typeface="Times New Roman" panose="02020603050405020304" pitchFamily="18" charset="0"/>
              </a:rPr>
              <a:t> Negotiates keys dynamically, supports automatic rekeying for increased security, and is ideal for most applications.</a:t>
            </a:r>
            <a:endParaRPr lang="en-TZ" sz="2000" dirty="0">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TZ" b="1" dirty="0">
                <a:latin typeface="Times New Roman" panose="02020603050405020304" pitchFamily="18" charset="0"/>
                <a:ea typeface="Times New Roman" panose="02020603050405020304" pitchFamily="18" charset="0"/>
                <a:cs typeface="Times New Roman" panose="02020603050405020304" pitchFamily="18" charset="0"/>
              </a:rPr>
              <a:t>Manual Keying:</a:t>
            </a:r>
            <a:r>
              <a:rPr lang="en-TZ" dirty="0">
                <a:latin typeface="Times New Roman" panose="02020603050405020304" pitchFamily="18" charset="0"/>
                <a:ea typeface="Times New Roman" panose="02020603050405020304" pitchFamily="18" charset="0"/>
                <a:cs typeface="Times New Roman" panose="02020603050405020304" pitchFamily="18" charset="0"/>
              </a:rPr>
              <a:t> Keys are manually configured on both ends. This is complex and usually restricted to specialized scenarios, such as routing protocols (e.g., OSPFv3).</a:t>
            </a:r>
            <a:endParaRPr lang="en-TZ" sz="2000" dirty="0">
              <a:latin typeface="Calibri" panose="020F0502020204030204" pitchFamily="34" charset="0"/>
              <a:ea typeface="Calibri" panose="020F0502020204030204" pitchFamily="34" charset="0"/>
              <a:cs typeface="Times New Roman" panose="02020603050405020304" pitchFamily="18" charset="0"/>
            </a:endParaRPr>
          </a:p>
          <a:p>
            <a:endParaRPr lang="en-TZ" dirty="0"/>
          </a:p>
        </p:txBody>
      </p:sp>
    </p:spTree>
    <p:extLst>
      <p:ext uri="{BB962C8B-B14F-4D97-AF65-F5344CB8AC3E}">
        <p14:creationId xmlns:p14="http://schemas.microsoft.com/office/powerpoint/2010/main" val="1893294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95ACC-FFD8-4A55-8781-AA186661F0D9}"/>
              </a:ext>
            </a:extLst>
          </p:cNvPr>
          <p:cNvSpPr>
            <a:spLocks noGrp="1"/>
          </p:cNvSpPr>
          <p:nvPr>
            <p:ph type="title"/>
          </p:nvPr>
        </p:nvSpPr>
        <p:spPr/>
        <p:txBody>
          <a:bodyPr/>
          <a:lstStyle/>
          <a:p>
            <a:r>
              <a:rPr lang="en-US" dirty="0"/>
              <a:t>                              CONTINUE</a:t>
            </a:r>
            <a:endParaRPr lang="en-TZ" dirty="0"/>
          </a:p>
        </p:txBody>
      </p:sp>
      <p:sp>
        <p:nvSpPr>
          <p:cNvPr id="3" name="Content Placeholder 2">
            <a:extLst>
              <a:ext uri="{FF2B5EF4-FFF2-40B4-BE49-F238E27FC236}">
                <a16:creationId xmlns:a16="http://schemas.microsoft.com/office/drawing/2014/main" id="{E7442548-3987-40E3-BC52-4DAB3D08A1D6}"/>
              </a:ext>
            </a:extLst>
          </p:cNvPr>
          <p:cNvSpPr>
            <a:spLocks noGrp="1"/>
          </p:cNvSpPr>
          <p:nvPr>
            <p:ph idx="1"/>
          </p:nvPr>
        </p:nvSpPr>
        <p:spPr>
          <a:xfrm>
            <a:off x="838200" y="1825625"/>
            <a:ext cx="10515600" cy="4766244"/>
          </a:xfrm>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en-TZ" b="1" dirty="0">
                <a:latin typeface="Times New Roman" panose="02020603050405020304" pitchFamily="18" charset="0"/>
                <a:ea typeface="Times New Roman" panose="02020603050405020304" pitchFamily="18" charset="0"/>
                <a:cs typeface="Times New Roman" panose="02020603050405020304" pitchFamily="18" charset="0"/>
              </a:rPr>
              <a:t>Key Rotation/Rekeying:</a:t>
            </a:r>
            <a:r>
              <a:rPr lang="en-TZ" dirty="0">
                <a:latin typeface="Times New Roman" panose="02020603050405020304" pitchFamily="18" charset="0"/>
                <a:ea typeface="Times New Roman" panose="02020603050405020304" pitchFamily="18" charset="0"/>
                <a:cs typeface="Times New Roman" panose="02020603050405020304" pitchFamily="18" charset="0"/>
              </a:rPr>
              <a:t> Best practices dictate regular key rotation (every 30 to 90 days) to minimize risk, often automated through IKE.</a:t>
            </a:r>
            <a:endParaRPr lang="en-TZ"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SzPts val="1000"/>
              <a:buFont typeface="Symbol" panose="05050102010706020507" pitchFamily="18" charset="2"/>
              <a:buChar char=""/>
              <a:tabLst>
                <a:tab pos="457200" algn="l"/>
              </a:tabLst>
            </a:pPr>
            <a:r>
              <a:rPr lang="en-TZ" b="1" dirty="0">
                <a:latin typeface="Times New Roman" panose="02020603050405020304" pitchFamily="18" charset="0"/>
                <a:ea typeface="Times New Roman" panose="02020603050405020304" pitchFamily="18" charset="0"/>
                <a:cs typeface="Times New Roman" panose="02020603050405020304" pitchFamily="18" charset="0"/>
              </a:rPr>
              <a:t>IKEv2 Improvements:</a:t>
            </a:r>
            <a:r>
              <a:rPr lang="en-TZ" dirty="0">
                <a:latin typeface="Times New Roman" panose="02020603050405020304" pitchFamily="18" charset="0"/>
                <a:ea typeface="Times New Roman" panose="02020603050405020304" pitchFamily="18" charset="0"/>
                <a:cs typeface="Times New Roman" panose="02020603050405020304" pitchFamily="18" charset="0"/>
              </a:rPr>
              <a:t> IKEv2 offers more efficient, reliable, and secure key exchange compared to IKEv1, featuring faster negotiation and better handling of mobile environments. </a:t>
            </a:r>
            <a:endParaRPr lang="en-TZ" sz="2400" dirty="0">
              <a:latin typeface="Calibri" panose="020F0502020204030204" pitchFamily="34" charset="0"/>
              <a:ea typeface="Calibri" panose="020F0502020204030204" pitchFamily="34" charset="0"/>
              <a:cs typeface="Times New Roman" panose="02020603050405020304" pitchFamily="18" charset="0"/>
            </a:endParaRPr>
          </a:p>
          <a:p>
            <a:endParaRPr lang="en-TZ" dirty="0"/>
          </a:p>
        </p:txBody>
      </p:sp>
    </p:spTree>
    <p:extLst>
      <p:ext uri="{BB962C8B-B14F-4D97-AF65-F5344CB8AC3E}">
        <p14:creationId xmlns:p14="http://schemas.microsoft.com/office/powerpoint/2010/main" val="2318553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3FE42-77D8-4737-8A1E-C9D5CEFDCC5E}"/>
              </a:ext>
            </a:extLst>
          </p:cNvPr>
          <p:cNvSpPr>
            <a:spLocks noGrp="1"/>
          </p:cNvSpPr>
          <p:nvPr>
            <p:ph type="title"/>
          </p:nvPr>
        </p:nvSpPr>
        <p:spPr/>
        <p:txBody>
          <a:bodyPr/>
          <a:lstStyle/>
          <a:p>
            <a:r>
              <a:rPr lang="en-US" b="1" dirty="0">
                <a:latin typeface="Times New Roman" panose="02020603050405020304" pitchFamily="18" charset="0"/>
                <a:ea typeface="Times New Roman" panose="02020603050405020304" pitchFamily="18" charset="0"/>
              </a:rPr>
              <a:t>              </a:t>
            </a:r>
            <a:r>
              <a:rPr lang="en-TZ" b="1" dirty="0">
                <a:latin typeface="Times New Roman" panose="02020603050405020304" pitchFamily="18" charset="0"/>
                <a:ea typeface="Times New Roman" panose="02020603050405020304" pitchFamily="18" charset="0"/>
              </a:rPr>
              <a:t>Key Management Components</a:t>
            </a:r>
            <a:endParaRPr lang="en-TZ" dirty="0"/>
          </a:p>
        </p:txBody>
      </p:sp>
      <p:sp>
        <p:nvSpPr>
          <p:cNvPr id="3" name="Content Placeholder 2">
            <a:extLst>
              <a:ext uri="{FF2B5EF4-FFF2-40B4-BE49-F238E27FC236}">
                <a16:creationId xmlns:a16="http://schemas.microsoft.com/office/drawing/2014/main" id="{2A6227D9-270F-4AF7-9A09-9970EF957D36}"/>
              </a:ext>
            </a:extLst>
          </p:cNvPr>
          <p:cNvSpPr>
            <a:spLocks noGrp="1"/>
          </p:cNvSpPr>
          <p:nvPr>
            <p:ph idx="1"/>
          </p:nvPr>
        </p:nvSpPr>
        <p:spPr/>
        <p:txBody>
          <a:bodyPr/>
          <a:lstStyle/>
          <a:p>
            <a:pPr marL="342900" lvl="0" indent="-342900">
              <a:lnSpc>
                <a:spcPct val="107000"/>
              </a:lnSpc>
              <a:spcAft>
                <a:spcPts val="0"/>
              </a:spcAft>
              <a:buSzPts val="1000"/>
              <a:buFont typeface="Symbol" panose="05050102010706020507" pitchFamily="18" charset="2"/>
              <a:buChar char=""/>
              <a:tabLst>
                <a:tab pos="457200" algn="l"/>
              </a:tabLst>
            </a:pPr>
            <a:r>
              <a:rPr lang="en-TZ" b="1" dirty="0">
                <a:latin typeface="Times New Roman" panose="02020603050405020304" pitchFamily="18" charset="0"/>
                <a:ea typeface="Times New Roman" panose="02020603050405020304" pitchFamily="18" charset="0"/>
                <a:cs typeface="Times New Roman" panose="02020603050405020304" pitchFamily="18" charset="0"/>
              </a:rPr>
              <a:t>Authentication:</a:t>
            </a:r>
            <a:r>
              <a:rPr lang="en-TZ" dirty="0">
                <a:latin typeface="Times New Roman" panose="02020603050405020304" pitchFamily="18" charset="0"/>
                <a:ea typeface="Times New Roman" panose="02020603050405020304" pitchFamily="18" charset="0"/>
                <a:cs typeface="Times New Roman" panose="02020603050405020304" pitchFamily="18" charset="0"/>
              </a:rPr>
              <a:t> Ensures peers are valid (using pre-shared keys or digital signatures).</a:t>
            </a:r>
            <a:endParaRPr lang="en-TZ"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TZ" b="1" dirty="0">
                <a:latin typeface="Times New Roman" panose="02020603050405020304" pitchFamily="18" charset="0"/>
                <a:ea typeface="Times New Roman" panose="02020603050405020304" pitchFamily="18" charset="0"/>
                <a:cs typeface="Times New Roman" panose="02020603050405020304" pitchFamily="18" charset="0"/>
              </a:rPr>
              <a:t>Key Exchange:</a:t>
            </a:r>
            <a:r>
              <a:rPr lang="en-TZ" dirty="0">
                <a:latin typeface="Times New Roman" panose="02020603050405020304" pitchFamily="18" charset="0"/>
                <a:ea typeface="Times New Roman" panose="02020603050405020304" pitchFamily="18" charset="0"/>
                <a:cs typeface="Times New Roman" panose="02020603050405020304" pitchFamily="18" charset="0"/>
              </a:rPr>
              <a:t> Uses Diffie-Hellman (DH) to securely create shared keys over an unsecure medium.</a:t>
            </a:r>
            <a:endParaRPr lang="en-TZ"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TZ" b="1" dirty="0">
                <a:latin typeface="Times New Roman" panose="02020603050405020304" pitchFamily="18" charset="0"/>
                <a:ea typeface="Times New Roman" panose="02020603050405020304" pitchFamily="18" charset="0"/>
                <a:cs typeface="Times New Roman" panose="02020603050405020304" pitchFamily="18" charset="0"/>
              </a:rPr>
              <a:t>Security Policy Database (SPD):</a:t>
            </a:r>
            <a:r>
              <a:rPr lang="en-TZ" dirty="0">
                <a:latin typeface="Times New Roman" panose="02020603050405020304" pitchFamily="18" charset="0"/>
                <a:ea typeface="Times New Roman" panose="02020603050405020304" pitchFamily="18" charset="0"/>
                <a:cs typeface="Times New Roman" panose="02020603050405020304" pitchFamily="18" charset="0"/>
              </a:rPr>
              <a:t> Determines which traffic needs to be protected, prompting key management to start. </a:t>
            </a:r>
            <a:endParaRPr lang="en-TZ" sz="2400" dirty="0">
              <a:latin typeface="Calibri" panose="020F0502020204030204" pitchFamily="34" charset="0"/>
              <a:ea typeface="Calibri" panose="020F0502020204030204" pitchFamily="34" charset="0"/>
              <a:cs typeface="Times New Roman" panose="02020603050405020304" pitchFamily="18" charset="0"/>
            </a:endParaRPr>
          </a:p>
          <a:p>
            <a:endParaRPr lang="en-TZ" dirty="0"/>
          </a:p>
        </p:txBody>
      </p:sp>
    </p:spTree>
    <p:extLst>
      <p:ext uri="{BB962C8B-B14F-4D97-AF65-F5344CB8AC3E}">
        <p14:creationId xmlns:p14="http://schemas.microsoft.com/office/powerpoint/2010/main" val="4080852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C42BF-EE3C-4645-8780-62081F6DB892}"/>
              </a:ext>
            </a:extLst>
          </p:cNvPr>
          <p:cNvSpPr>
            <a:spLocks noGrp="1"/>
          </p:cNvSpPr>
          <p:nvPr>
            <p:ph type="title"/>
          </p:nvPr>
        </p:nvSpPr>
        <p:spPr/>
        <p:txBody>
          <a:bodyPr/>
          <a:lstStyle/>
          <a:p>
            <a:r>
              <a:rPr lang="en-TZ" dirty="0">
                <a:latin typeface="Times New Roman" panose="02020603050405020304" pitchFamily="18" charset="0"/>
                <a:ea typeface="Times New Roman" panose="02020603050405020304" pitchFamily="18" charset="0"/>
              </a:rPr>
              <a:t>IPsec (Internet Protocol Security) supports key management </a:t>
            </a:r>
            <a:endParaRPr lang="en-TZ" dirty="0"/>
          </a:p>
        </p:txBody>
      </p:sp>
      <p:sp>
        <p:nvSpPr>
          <p:cNvPr id="3" name="Content Placeholder 2">
            <a:extLst>
              <a:ext uri="{FF2B5EF4-FFF2-40B4-BE49-F238E27FC236}">
                <a16:creationId xmlns:a16="http://schemas.microsoft.com/office/drawing/2014/main" id="{F32932AC-5B97-4222-B2C4-506BA2E3D8A9}"/>
              </a:ext>
            </a:extLst>
          </p:cNvPr>
          <p:cNvSpPr>
            <a:spLocks noGrp="1"/>
          </p:cNvSpPr>
          <p:nvPr>
            <p:ph idx="1"/>
          </p:nvPr>
        </p:nvSpPr>
        <p:spPr>
          <a:xfrm>
            <a:off x="838200" y="1825625"/>
            <a:ext cx="10515600" cy="4875426"/>
          </a:xfrm>
        </p:spPr>
        <p:txBody>
          <a:bodyPr>
            <a:normAutofit fontScale="85000" lnSpcReduction="20000"/>
          </a:bodyPr>
          <a:lstStyle/>
          <a:p>
            <a:pPr marL="0" indent="0">
              <a:lnSpc>
                <a:spcPct val="107000"/>
              </a:lnSpc>
              <a:spcAft>
                <a:spcPts val="0"/>
              </a:spcAft>
              <a:buNone/>
            </a:pPr>
            <a:r>
              <a:rPr lang="en-TZ" dirty="0">
                <a:latin typeface="Times New Roman" panose="02020603050405020304" pitchFamily="18" charset="0"/>
                <a:ea typeface="Times New Roman" panose="02020603050405020304" pitchFamily="18" charset="0"/>
                <a:cs typeface="Times New Roman" panose="02020603050405020304" pitchFamily="18" charset="0"/>
              </a:rPr>
              <a:t>IPsec (Internet Protocol Security) supports key management and key exchange through protocols like Internet Key Exchange (IKE). IKE is responsible for negotiating, creating, and managing security associations (</a:t>
            </a:r>
            <a:r>
              <a:rPr lang="en-TZ" dirty="0" err="1">
                <a:latin typeface="Times New Roman" panose="02020603050405020304" pitchFamily="18" charset="0"/>
                <a:ea typeface="Times New Roman" panose="02020603050405020304" pitchFamily="18" charset="0"/>
                <a:cs typeface="Times New Roman" panose="02020603050405020304" pitchFamily="18" charset="0"/>
              </a:rPr>
              <a:t>SAs</a:t>
            </a:r>
            <a:r>
              <a:rPr lang="en-TZ" dirty="0">
                <a:latin typeface="Times New Roman" panose="02020603050405020304" pitchFamily="18" charset="0"/>
                <a:ea typeface="Times New Roman" panose="02020603050405020304" pitchFamily="18" charset="0"/>
                <a:cs typeface="Times New Roman" panose="02020603050405020304" pitchFamily="18" charset="0"/>
              </a:rPr>
              <a:t>), which are used to secure the communication channels.</a:t>
            </a:r>
            <a:endParaRPr lang="en-TZ" sz="2400"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0"/>
              </a:spcAft>
              <a:buNone/>
            </a:pPr>
            <a:r>
              <a:rPr lang="en-TZ" dirty="0">
                <a:latin typeface="Times New Roman" panose="02020603050405020304" pitchFamily="18" charset="0"/>
                <a:ea typeface="Times New Roman" panose="02020603050405020304" pitchFamily="18" charset="0"/>
                <a:cs typeface="Times New Roman" panose="02020603050405020304" pitchFamily="18" charset="0"/>
              </a:rPr>
              <a:t>IKE operates in two phases:</a:t>
            </a:r>
            <a:endParaRPr lang="en-TZ"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TZ" dirty="0">
                <a:latin typeface="Times New Roman" panose="02020603050405020304" pitchFamily="18" charset="0"/>
                <a:ea typeface="Times New Roman" panose="02020603050405020304" pitchFamily="18" charset="0"/>
                <a:cs typeface="Times New Roman" panose="02020603050405020304" pitchFamily="18" charset="0"/>
              </a:rPr>
              <a:t>Phase 1: In this phase, IKE establishes a secure channel between two peers, known as the IKE SA. This channel is used to securely exchange cryptographic keys and negotiate the parameters for the IPsec </a:t>
            </a:r>
            <a:r>
              <a:rPr lang="en-TZ" dirty="0" err="1">
                <a:latin typeface="Times New Roman" panose="02020603050405020304" pitchFamily="18" charset="0"/>
                <a:ea typeface="Times New Roman" panose="02020603050405020304" pitchFamily="18" charset="0"/>
                <a:cs typeface="Times New Roman" panose="02020603050405020304" pitchFamily="18" charset="0"/>
              </a:rPr>
              <a:t>SAs</a:t>
            </a:r>
            <a:r>
              <a:rPr lang="en-TZ" dirty="0">
                <a:latin typeface="Times New Roman" panose="02020603050405020304" pitchFamily="18" charset="0"/>
                <a:ea typeface="Times New Roman" panose="02020603050405020304" pitchFamily="18" charset="0"/>
                <a:cs typeface="Times New Roman" panose="02020603050405020304" pitchFamily="18" charset="0"/>
              </a:rPr>
              <a:t>. Phase 1 can use either main mode or aggressive mode for negotiation. Main mode is more secure as it provides identity protection, while aggressive mode is faster but less secure.</a:t>
            </a:r>
            <a:endParaRPr lang="en-TZ"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TZ" dirty="0">
                <a:latin typeface="Times New Roman" panose="02020603050405020304" pitchFamily="18" charset="0"/>
                <a:ea typeface="Times New Roman" panose="02020603050405020304" pitchFamily="18" charset="0"/>
                <a:cs typeface="Times New Roman" panose="02020603050405020304" pitchFamily="18" charset="0"/>
              </a:rPr>
              <a:t>Example: When two companies' networks are connected via VPN, IKE Phase 1 will establish a secure channel between their VPN gateways to securely exchange cryptographic keys.</a:t>
            </a:r>
            <a:endParaRPr lang="en-TZ" sz="2400" dirty="0">
              <a:latin typeface="Calibri" panose="020F0502020204030204" pitchFamily="34" charset="0"/>
              <a:ea typeface="Calibri" panose="020F0502020204030204" pitchFamily="34" charset="0"/>
              <a:cs typeface="Times New Roman" panose="02020603050405020304" pitchFamily="18" charset="0"/>
            </a:endParaRPr>
          </a:p>
          <a:p>
            <a:endParaRPr lang="en-TZ" dirty="0"/>
          </a:p>
        </p:txBody>
      </p:sp>
    </p:spTree>
    <p:extLst>
      <p:ext uri="{BB962C8B-B14F-4D97-AF65-F5344CB8AC3E}">
        <p14:creationId xmlns:p14="http://schemas.microsoft.com/office/powerpoint/2010/main" val="1956368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BC849-D4DA-4BA6-ABCF-74EFB1F57B28}"/>
              </a:ext>
            </a:extLst>
          </p:cNvPr>
          <p:cNvSpPr>
            <a:spLocks noGrp="1"/>
          </p:cNvSpPr>
          <p:nvPr>
            <p:ph type="title"/>
          </p:nvPr>
        </p:nvSpPr>
        <p:spPr/>
        <p:txBody>
          <a:bodyPr/>
          <a:lstStyle/>
          <a:p>
            <a:r>
              <a:rPr lang="en-US" dirty="0"/>
              <a:t>                               CONTINUE</a:t>
            </a:r>
            <a:endParaRPr lang="en-TZ" dirty="0"/>
          </a:p>
        </p:txBody>
      </p:sp>
      <p:sp>
        <p:nvSpPr>
          <p:cNvPr id="3" name="Content Placeholder 2">
            <a:extLst>
              <a:ext uri="{FF2B5EF4-FFF2-40B4-BE49-F238E27FC236}">
                <a16:creationId xmlns:a16="http://schemas.microsoft.com/office/drawing/2014/main" id="{02AAC2C0-2B0B-4FAE-B0F5-81ECD2AEAA2B}"/>
              </a:ext>
            </a:extLst>
          </p:cNvPr>
          <p:cNvSpPr>
            <a:spLocks noGrp="1"/>
          </p:cNvSpPr>
          <p:nvPr>
            <p:ph idx="1"/>
          </p:nvPr>
        </p:nvSpPr>
        <p:spPr/>
        <p:txBody>
          <a:bodyPr>
            <a:normAutofit fontScale="92500" lnSpcReduction="20000"/>
          </a:bodyPr>
          <a:lstStyle/>
          <a:p>
            <a:pPr>
              <a:lnSpc>
                <a:spcPct val="107000"/>
              </a:lnSpc>
              <a:spcAft>
                <a:spcPts val="0"/>
              </a:spcAft>
            </a:pPr>
            <a:r>
              <a:rPr lang="en-TZ" dirty="0">
                <a:latin typeface="Times New Roman" panose="02020603050405020304" pitchFamily="18" charset="0"/>
                <a:ea typeface="Times New Roman" panose="02020603050405020304" pitchFamily="18" charset="0"/>
                <a:cs typeface="Times New Roman" panose="02020603050405020304" pitchFamily="18" charset="0"/>
              </a:rPr>
              <a:t>Phase 2: In this phase, IKE establishes the IPsec </a:t>
            </a:r>
            <a:r>
              <a:rPr lang="en-TZ" dirty="0" err="1">
                <a:latin typeface="Times New Roman" panose="02020603050405020304" pitchFamily="18" charset="0"/>
                <a:ea typeface="Times New Roman" panose="02020603050405020304" pitchFamily="18" charset="0"/>
                <a:cs typeface="Times New Roman" panose="02020603050405020304" pitchFamily="18" charset="0"/>
              </a:rPr>
              <a:t>SAs</a:t>
            </a:r>
            <a:r>
              <a:rPr lang="en-TZ" dirty="0">
                <a:latin typeface="Times New Roman" panose="02020603050405020304" pitchFamily="18" charset="0"/>
                <a:ea typeface="Times New Roman" panose="02020603050405020304" pitchFamily="18" charset="0"/>
                <a:cs typeface="Times New Roman" panose="02020603050405020304" pitchFamily="18" charset="0"/>
              </a:rPr>
              <a:t> that define the parameters for securing the actual data traffic. This includes the encryption and authentication algorithms, keys, and other settings. Phase 2 can use quick mode for negotiation.</a:t>
            </a:r>
            <a:endParaRPr lang="en-TZ"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TZ" dirty="0">
                <a:latin typeface="Times New Roman" panose="02020603050405020304" pitchFamily="18" charset="0"/>
                <a:ea typeface="Times New Roman" panose="02020603050405020304" pitchFamily="18" charset="0"/>
                <a:cs typeface="Times New Roman" panose="02020603050405020304" pitchFamily="18" charset="0"/>
              </a:rPr>
              <a:t>Example: Continuing the previous example, after the secure channel is established in Phase 1, IKE Phase 2 will negotiate the IPsec </a:t>
            </a:r>
            <a:r>
              <a:rPr lang="en-TZ" dirty="0" err="1">
                <a:latin typeface="Times New Roman" panose="02020603050405020304" pitchFamily="18" charset="0"/>
                <a:ea typeface="Times New Roman" panose="02020603050405020304" pitchFamily="18" charset="0"/>
                <a:cs typeface="Times New Roman" panose="02020603050405020304" pitchFamily="18" charset="0"/>
              </a:rPr>
              <a:t>SAs</a:t>
            </a:r>
            <a:r>
              <a:rPr lang="en-TZ" dirty="0">
                <a:latin typeface="Times New Roman" panose="02020603050405020304" pitchFamily="18" charset="0"/>
                <a:ea typeface="Times New Roman" panose="02020603050405020304" pitchFamily="18" charset="0"/>
                <a:cs typeface="Times New Roman" panose="02020603050405020304" pitchFamily="18" charset="0"/>
              </a:rPr>
              <a:t> to secure the data traffic between the two companies' networks.</a:t>
            </a:r>
            <a:endParaRPr lang="en-TZ" sz="2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TZ" dirty="0">
                <a:latin typeface="Times New Roman" panose="02020603050405020304" pitchFamily="18" charset="0"/>
                <a:ea typeface="Times New Roman" panose="02020603050405020304" pitchFamily="18" charset="0"/>
                <a:cs typeface="Times New Roman" panose="02020603050405020304" pitchFamily="18" charset="0"/>
              </a:rPr>
              <a:t>For cloud-based solutions, Tencent Cloud provides VPN services that utilize IPsec and IKE for secure key management and key exchange. By leveraging Tencent Cloud's VPN services, enterprises can easily establish secure connections between their on-premises networks and cloud resources.</a:t>
            </a:r>
            <a:endParaRPr lang="en-TZ" sz="2400" dirty="0">
              <a:latin typeface="Calibri" panose="020F0502020204030204" pitchFamily="34" charset="0"/>
              <a:ea typeface="Calibri" panose="020F0502020204030204" pitchFamily="34" charset="0"/>
              <a:cs typeface="Times New Roman" panose="02020603050405020304" pitchFamily="18" charset="0"/>
            </a:endParaRPr>
          </a:p>
          <a:p>
            <a:endParaRPr lang="en-TZ" dirty="0"/>
          </a:p>
        </p:txBody>
      </p:sp>
    </p:spTree>
    <p:extLst>
      <p:ext uri="{BB962C8B-B14F-4D97-AF65-F5344CB8AC3E}">
        <p14:creationId xmlns:p14="http://schemas.microsoft.com/office/powerpoint/2010/main" val="236717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D1485-48A6-4A2F-BFE6-1EE3974F17C7}"/>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803A68E4-819B-487C-849A-9D3C9CE49D98}"/>
              </a:ext>
            </a:extLst>
          </p:cNvPr>
          <p:cNvSpPr>
            <a:spLocks noGrp="1"/>
          </p:cNvSpPr>
          <p:nvPr>
            <p:ph idx="1"/>
          </p:nvPr>
        </p:nvSpPr>
        <p:spPr/>
        <p:txBody>
          <a:bodyPr/>
          <a:lstStyle/>
          <a:p>
            <a:endParaRPr lang="en-TZ"/>
          </a:p>
        </p:txBody>
      </p:sp>
    </p:spTree>
    <p:extLst>
      <p:ext uri="{BB962C8B-B14F-4D97-AF65-F5344CB8AC3E}">
        <p14:creationId xmlns:p14="http://schemas.microsoft.com/office/powerpoint/2010/main" val="166682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617</Words>
  <Application>Microsoft Office PowerPoint</Application>
  <PresentationFormat>Widescreen</PresentationFormat>
  <Paragraphs>24</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Calibri Light</vt:lpstr>
      <vt:lpstr>Courier New</vt:lpstr>
      <vt:lpstr>Symbol</vt:lpstr>
      <vt:lpstr>Times New Roman</vt:lpstr>
      <vt:lpstr>Office Theme</vt:lpstr>
      <vt:lpstr>IPSec key management </vt:lpstr>
      <vt:lpstr>  Key Aspects of IPSec Key Management</vt:lpstr>
      <vt:lpstr>                              CONTINUE</vt:lpstr>
      <vt:lpstr>              Key Management Components</vt:lpstr>
      <vt:lpstr>IPsec (Internet Protocol Security) supports key management </vt:lpstr>
      <vt:lpstr>                               CONTINUE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IPSec key management </dc:title>
  <dc:creator>Dr. Igangas</dc:creator>
  <cp:lastModifiedBy>Dr. Igangas</cp:lastModifiedBy>
  <cp:revision>3</cp:revision>
  <dcterms:created xsi:type="dcterms:W3CDTF">2026-03-08T15:51:03Z</dcterms:created>
  <dcterms:modified xsi:type="dcterms:W3CDTF">2026-03-08T16:01:16Z</dcterms:modified>
</cp:coreProperties>
</file>